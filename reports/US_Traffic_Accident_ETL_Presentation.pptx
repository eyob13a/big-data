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548640"/>
            <a:ext cx="2377440" cy="2377440"/>
          </a:xfrm>
          <a:prstGeom prst="ellipse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3017520"/>
            <a:ext cx="1554480" cy="1554480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4297680"/>
            <a:ext cx="822960" cy="822960"/>
          </a:xfrm>
          <a:prstGeom prst="ellipse">
            <a:avLst/>
          </a:prstGeom>
          <a:solidFill>
            <a:srgbClr val="E0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804672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800" b="1">
                <a:solidFill>
                  <a:srgbClr val="AEDBE1"/>
                </a:solidFill>
                <a:latin typeface="Aptos"/>
              </a:rPr>
              <a:t>DESIGN AND IMPLEMENTATION OF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412480" cy="7315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Aptos"/>
              </a:rPr>
              <a:t>BIG DATA ETL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8412480" cy="5943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FOR US TRAFFIC ACCIDENT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54680"/>
            <a:ext cx="7772400" cy="4114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900" b="0">
                <a:solidFill>
                  <a:srgbClr val="DAE5EF"/>
                </a:solidFill>
                <a:latin typeface="Aptos"/>
              </a:rPr>
              <a:t>Using Python, Pandas and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257800"/>
            <a:ext cx="594360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Aptos"/>
              </a:rPr>
              <a:t>Presenter: Eyob Alemayehu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650992"/>
            <a:ext cx="6858000" cy="2743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BECCDC"/>
                </a:solidFill>
                <a:latin typeface="Aptos"/>
              </a:rPr>
              <a:t>Big Data Assignment •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What the project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82296" cy="182880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9222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3017520" cy="11704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Read the US traffic accident dataset from a CSV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82296" cy="18288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9222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21992"/>
            <a:ext cx="3017520" cy="11704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Prepare and process records using Python and Pandas.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82296" cy="1828800"/>
          </a:xfrm>
          <a:prstGeom prst="rect">
            <a:avLst/>
          </a:prstGeom>
          <a:solidFill>
            <a:srgbClr val="E0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792224"/>
            <a:ext cx="306324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21992"/>
            <a:ext cx="3017520" cy="11704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Insert the processed records into PostgreSQL.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800" b="1">
                <a:solidFill>
                  <a:srgbClr val="162B4A"/>
                </a:solidFill>
                <a:latin typeface="Aptos"/>
              </a:rPr>
              <a:t>Main purpose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434840"/>
            <a:ext cx="10332720" cy="10058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200" b="0">
                <a:solidFill>
                  <a:srgbClr val="28303A"/>
                </a:solidFill>
                <a:latin typeface="Aptos"/>
              </a:rPr>
              <a:t>Build an ETL pipeline that moves a large accident dataset from a CSV source into a database where it can be queried and analyzed.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Problem and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Why an ETL pipeline is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•  The dataset contains millions of traffic accident records.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•  A very large CSV file requires careful memory management.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•  The data needs to be prepared and stored for convenient SQL queries.</a:t>
            </a:r>
          </a:p>
          <a:p>
            <a:pPr>
              <a:spcAft>
                <a:spcPts val="1200"/>
              </a:spcAft>
              <a:defRPr sz="2100">
                <a:solidFill>
                  <a:srgbClr val="28303A"/>
                </a:solidFill>
                <a:latin typeface="Aptos"/>
              </a:defRPr>
            </a:pPr>
            <a:r>
              <a:t>•  An ETL workflow provides a clear process for extracting, transforming, and loading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82296" cy="15544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4650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General 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Design and implement an ETL pipeline for US traffic accident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82296" cy="155448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74650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Objective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76272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Extract records from the CSV dataset using Python.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520440"/>
            <a:ext cx="82296" cy="1554480"/>
          </a:xfrm>
          <a:prstGeom prst="rect">
            <a:avLst/>
          </a:prstGeom>
          <a:solidFill>
            <a:srgbClr val="E0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6674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Objective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Transform and prepare records using Pandas.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52044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20440"/>
            <a:ext cx="82296" cy="1554480"/>
          </a:xfrm>
          <a:prstGeom prst="rect">
            <a:avLst/>
          </a:prstGeom>
          <a:solidFill>
            <a:srgbClr val="2C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6674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Objective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96512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Load records into PostgreSQL and support SQL-based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Dataset used in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141732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2971800" cy="75895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Kaggle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82296" cy="141732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700784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File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30552"/>
            <a:ext cx="2971800" cy="75895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US_Accidents_March23.csv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54480"/>
            <a:ext cx="82296" cy="1417320"/>
          </a:xfrm>
          <a:prstGeom prst="rect">
            <a:avLst/>
          </a:prstGeom>
          <a:solidFill>
            <a:srgbClr val="E0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00784"/>
            <a:ext cx="30175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Records loaded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0552"/>
            <a:ext cx="2971800" cy="75895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7,728,394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900" b="1">
                <a:solidFill>
                  <a:srgbClr val="162B4A"/>
                </a:solidFill>
                <a:latin typeface="Aptos"/>
              </a:rPr>
              <a:t>Examples of information in the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9875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Accident severity</a:t>
            </a:r>
          </a:p>
          <a:p>
            <a:pPr>
              <a:spcAft>
                <a:spcPts val="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Location information, including state</a:t>
            </a:r>
          </a:p>
          <a:p>
            <a:pPr>
              <a:spcAft>
                <a:spcPts val="7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Time and weather-related fields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Tools and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08760"/>
            <a:ext cx="82296" cy="155448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55063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Main programming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0876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82296" cy="155448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655063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084831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Read and process CSV data in chunks.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520440"/>
            <a:ext cx="82296" cy="1554480"/>
          </a:xfrm>
          <a:prstGeom prst="rect">
            <a:avLst/>
          </a:prstGeom>
          <a:solidFill>
            <a:srgbClr val="E0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6674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SQLAlchemy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Connect Python to PostgreSQL.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52044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20440"/>
            <a:ext cx="82296" cy="1554480"/>
          </a:xfrm>
          <a:prstGeom prst="rect">
            <a:avLst/>
          </a:prstGeom>
          <a:solidFill>
            <a:srgbClr val="2C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66674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096512"/>
            <a:ext cx="4663440" cy="89611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Store and query accident records using 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ETL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High-level flow of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48840"/>
            <a:ext cx="82296" cy="160020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1. Extract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1691639" cy="9418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Read the CSV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4884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2148840"/>
            <a:ext cx="82296" cy="16002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29514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2. 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24912"/>
            <a:ext cx="1691639" cy="9418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Process data in 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14884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2148840"/>
            <a:ext cx="82296" cy="1600200"/>
          </a:xfrm>
          <a:prstGeom prst="rect">
            <a:avLst/>
          </a:prstGeom>
          <a:solidFill>
            <a:srgbClr val="E0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229514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3.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24912"/>
            <a:ext cx="1691639" cy="9418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Insert into PostgreSQL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148840"/>
            <a:ext cx="2103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2148840"/>
            <a:ext cx="82296" cy="1600200"/>
          </a:xfrm>
          <a:prstGeom prst="rect">
            <a:avLst/>
          </a:prstGeom>
          <a:solidFill>
            <a:srgbClr val="2C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295144"/>
            <a:ext cx="173736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4. Analyze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724912"/>
            <a:ext cx="1691639" cy="9418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Run SQL queries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80360" y="2697480"/>
            <a:ext cx="502920" cy="411480"/>
          </a:xfrm>
          <a:prstGeom prst="rightArrow">
            <a:avLst/>
          </a:prstGeom>
          <a:solidFill>
            <a:srgbClr val="5D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806440" y="2697480"/>
            <a:ext cx="502920" cy="411480"/>
          </a:xfrm>
          <a:prstGeom prst="rightArrow">
            <a:avLst/>
          </a:prstGeom>
          <a:solidFill>
            <a:srgbClr val="5D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732520" y="2697480"/>
            <a:ext cx="502920" cy="411480"/>
          </a:xfrm>
          <a:prstGeom prst="rightArrow">
            <a:avLst/>
          </a:prstGeom>
          <a:solidFill>
            <a:srgbClr val="5D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100" b="1">
                <a:solidFill>
                  <a:srgbClr val="162B4A"/>
                </a:solidFill>
                <a:latin typeface="Aptos"/>
              </a:rPr>
              <a:t>Chunk processing helps avoid reading the entire dataset into memory at once.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Processing a Large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Chunk size and total chunks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82296" cy="160020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46504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Chunk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76272"/>
            <a:ext cx="2834639" cy="9418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10,000 rows per chunk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600200"/>
            <a:ext cx="82296" cy="16002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746504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Chunks processed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176272"/>
            <a:ext cx="2834639" cy="9418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773 chunks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00200"/>
            <a:ext cx="32461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00200"/>
            <a:ext cx="82296" cy="1600200"/>
          </a:xfrm>
          <a:prstGeom prst="rect">
            <a:avLst/>
          </a:prstGeom>
          <a:solidFill>
            <a:srgbClr val="E07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46504"/>
            <a:ext cx="288036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Final 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76272"/>
            <a:ext cx="2834639" cy="94183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8,394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900" b="1">
                <a:solidFill>
                  <a:srgbClr val="162B4A"/>
                </a:solidFill>
                <a:latin typeface="Aptos"/>
              </a:rPr>
              <a:t>Why use chunks?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 Processes smaller portions of the CSV at a time.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 Helps reduce memory usage compared with loading all rows at once.</a:t>
            </a:r>
          </a:p>
          <a:p>
            <a:pPr>
              <a:spcAft>
                <a:spcPts val="700"/>
              </a:spcAft>
              <a:defRPr sz="1800">
                <a:solidFill>
                  <a:srgbClr val="28303A"/>
                </a:solidFill>
                <a:latin typeface="Aptos"/>
              </a:defRPr>
            </a:pPr>
            <a:r>
              <a:t>•  10,000 is the chunk size; 773 is the total number of chunks.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Implementation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Observed project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500" b="1">
                <a:solidFill>
                  <a:srgbClr val="275F91"/>
                </a:solidFill>
                <a:latin typeface="Aptos"/>
              </a:rPr>
              <a:t>7,728,394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300" b="0">
                <a:solidFill>
                  <a:srgbClr val="5D6976"/>
                </a:solidFill>
                <a:latin typeface="Aptos"/>
              </a:rPr>
              <a:t>Records loaded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737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500" b="1">
                <a:solidFill>
                  <a:srgbClr val="008991"/>
                </a:solidFill>
                <a:latin typeface="Aptos"/>
              </a:rPr>
              <a:t>773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146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300" b="0">
                <a:solidFill>
                  <a:srgbClr val="5D6976"/>
                </a:solidFill>
                <a:latin typeface="Aptos"/>
              </a:rPr>
              <a:t>Chunks processed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737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965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500" b="1">
                <a:solidFill>
                  <a:srgbClr val="E07C30"/>
                </a:solidFill>
                <a:latin typeface="Aptos"/>
              </a:rPr>
              <a:t>8m 21s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5146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300" b="0">
                <a:solidFill>
                  <a:srgbClr val="5D6976"/>
                </a:solidFill>
                <a:latin typeface="Aptos"/>
              </a:rPr>
              <a:t>Approx. elapsed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737360"/>
            <a:ext cx="2560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19" y="196596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500" b="1">
                <a:solidFill>
                  <a:srgbClr val="2C845B"/>
                </a:solidFill>
                <a:latin typeface="Aptos"/>
              </a:rPr>
              <a:t>≈15,426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514600"/>
            <a:ext cx="2377440" cy="3200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300" b="0">
                <a:solidFill>
                  <a:srgbClr val="5D6976"/>
                </a:solidFill>
                <a:latin typeface="Aptos"/>
              </a:rPr>
              <a:t>Average rows/second*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10424160" cy="6400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600" b="0">
                <a:solidFill>
                  <a:srgbClr val="5D6976"/>
                </a:solidFill>
                <a:latin typeface="Aptos"/>
              </a:rPr>
              <a:t>*Calculated as 7,728,394 ÷ 501 seconds. This is average throughput, not the speed of every second.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72000"/>
            <a:ext cx="10424160" cy="8229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800" b="1">
                <a:solidFill>
                  <a:srgbClr val="162B4A"/>
                </a:solidFill>
                <a:latin typeface="Aptos"/>
              </a:rPr>
              <a:t>The reported run loaded 7,728,394 records; the pipeline's counter reported 0 excluded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Examples of SQL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Examples from the loaded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54480"/>
            <a:ext cx="82296" cy="1508760"/>
          </a:xfrm>
          <a:prstGeom prst="rect">
            <a:avLst/>
          </a:prstGeom>
          <a:solidFill>
            <a:srgbClr val="27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Records by severity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30552"/>
            <a:ext cx="4663440" cy="85039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Severity 2: 6,156,981 records
Severity 3: 1,299,337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0749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554480"/>
            <a:ext cx="82296" cy="15087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00784"/>
            <a:ext cx="4709159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700" b="1">
                <a:solidFill>
                  <a:srgbClr val="162B4A"/>
                </a:solidFill>
                <a:latin typeface="Aptos"/>
              </a:rPr>
              <a:t>States with most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130552"/>
            <a:ext cx="4663440" cy="850392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400" b="0">
                <a:solidFill>
                  <a:srgbClr val="28303A"/>
                </a:solidFill>
                <a:latin typeface="Aptos"/>
              </a:rPr>
              <a:t>California (CA): 1,741,433
Florida (FL): 880,192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10241280" cy="8229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000" b="0">
                <a:solidFill>
                  <a:srgbClr val="28303A"/>
                </a:solidFill>
                <a:latin typeface="Aptos"/>
              </a:rPr>
              <a:t>These are descriptive counts from the dataset. They show record distributions, not the causes of accidents.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Challenges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The CSV is large, so chunk processing was used to manage memory.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A successful load does not automatically prove every field is complete or accurate.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Runtime and throughput depend on the computer and database environment.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Possible improvements include stronger data-quality checks, indexes for common queries, and better recovery after failures.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5943600" cy="6400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04672" y="1417320"/>
            <a:ext cx="105156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Built an ETL pipeline using Python, Pandas, SQLAlchemy, and PostgreSQL.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Processed the US Accidents March 2023 dataset in 773 chunks.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Loaded 7,728,394 records into PostgreSQL.</a:t>
            </a:r>
          </a:p>
          <a:p>
            <a:pPr>
              <a:spcAft>
                <a:spcPts val="1200"/>
              </a:spcAft>
              <a:defRPr sz="2100">
                <a:solidFill>
                  <a:srgbClr val="FFFFFF"/>
                </a:solidFill>
                <a:latin typeface="Aptos"/>
              </a:defRPr>
            </a:pPr>
            <a:r>
              <a:t>•  The database supports SQL queries for descriptive accident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1500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AEDBE1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2800" b="1">
                <a:solidFill>
                  <a:srgbClr val="162B4A"/>
                </a:solidFill>
                <a:latin typeface="Aptos"/>
              </a:rPr>
              <a:t>Questions and Answers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1005840" cy="54864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0704"/>
            <a:ext cx="1078992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r>
              <a:rPr sz="1300" b="0">
                <a:solidFill>
                  <a:srgbClr val="5D6976"/>
                </a:solidFill>
                <a:latin typeface="Aptos"/>
              </a:rPr>
              <a:t>Thank you for listening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20040" cy="18288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r"/>
            <a:r>
              <a:rPr sz="1000" b="0">
                <a:solidFill>
                  <a:srgbClr val="5D6976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241280" cy="91440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4200" b="1">
                <a:solidFill>
                  <a:srgbClr val="162B4A"/>
                </a:solidFill>
                <a:latin typeface="Aptos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241280" cy="54864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2000" b="0">
                <a:solidFill>
                  <a:srgbClr val="5D6976"/>
                </a:solidFill>
                <a:latin typeface="Aptos"/>
              </a:rPr>
              <a:t>Big Data ETL Pipeline for US Traffic Accident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241280" cy="365760"/>
          </a:xfrm>
          <a:prstGeom prst="rect">
            <a:avLst/>
          </a:prstGeom>
          <a:noFill/>
        </p:spPr>
        <p:txBody>
          <a:bodyPr wrap="square" lIns="45720" rIns="45720" tIns="27432">
            <a:spAutoFit/>
          </a:bodyPr>
          <a:lstStyle/>
          <a:p>
            <a:pPr algn="ctr"/>
            <a:r>
              <a:rPr sz="1700" b="1">
                <a:solidFill>
                  <a:srgbClr val="008991"/>
                </a:solidFill>
                <a:latin typeface="Aptos"/>
              </a:rPr>
              <a:t>Eyob Alemayehu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ETL Pipeline for US Traffic Accident Analysis</dc:title>
  <dc:subject>Big Data project presentation</dc:subject>
  <dc:creator>Eyob Alemayehu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